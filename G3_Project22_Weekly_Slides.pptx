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FFAF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FFAFE"/>
                </a:solidFill>
                <a:latin typeface="Arial"/>
              </a:rPr>
              <a:t>Per-class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JPEG Q80</c:v>
                  </c:pt>
                  <c:pt idx="2">
                    <c:v>downsample ×8</c:v>
                  </c:pt>
                  <c:pt idx="3">
                    <c:v>downsample ×16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0.59</c:v>
                </c:pt>
                <c:pt idx="1">
                  <c:v>0.69</c:v>
                </c:pt>
                <c:pt idx="2">
                  <c:v>0.45</c:v>
                </c:pt>
                <c:pt idx="3">
                  <c:v>0.51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FFAFE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FFAFE"/>
                </a:solidFill>
                <a:latin typeface="Arial"/>
              </a:rPr>
              <a:t>Accuracy vs. observed patch size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128 px</c:v>
                  </c:pt>
                  <c:pt idx="1">
                    <c:v>96 px</c:v>
                  </c:pt>
                  <c:pt idx="2">
                    <c:v>64 px</c:v>
                  </c:pt>
                  <c:pt idx="3">
                    <c:v>48 px</c:v>
                  </c:pt>
                  <c:pt idx="4">
                    <c:v>32 px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0.633</c:v>
                </c:pt>
                <c:pt idx="1">
                  <c:v>0.609</c:v>
                </c:pt>
                <c:pt idx="2">
                  <c:v>0.569</c:v>
                </c:pt>
                <c:pt idx="3">
                  <c:v>0.542</c:v>
                </c:pt>
                <c:pt idx="4">
                  <c:v>0.476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5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FFAF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FFAFE"/>
                </a:solidFill>
                <a:latin typeface="Arial"/>
              </a:rPr>
              <a:t>Per-class F1 Score (6 classes)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original</c:v>
                  </c:pt>
                  <c:pt idx="1">
                    <c:v>JPEG</c:v>
                  </c:pt>
                  <c:pt idx="2">
                    <c:v>×2</c:v>
                  </c:pt>
                  <c:pt idx="3">
                    <c:v>×4</c:v>
                  </c:pt>
                  <c:pt idx="4">
                    <c:v>×8</c:v>
                  </c:pt>
                  <c:pt idx="5">
                    <c:v>×16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0.91</c:v>
                </c:pt>
                <c:pt idx="1">
                  <c:v>0.91</c:v>
                </c:pt>
                <c:pt idx="2">
                  <c:v>0.73</c:v>
                </c:pt>
                <c:pt idx="3">
                  <c:v>0.41</c:v>
                </c:pt>
                <c:pt idx="4">
                  <c:v>0.23</c:v>
                </c:pt>
                <c:pt idx="5">
                  <c:v>0.48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0E7490">
              <a:alpha val="20000"/>
            </a:srgbClr>
          </a:solidFill>
          <a:ln w="12700">
            <a:solidFill>
              <a:srgbClr val="0E74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926080" cy="292608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B6D4"/>
                </a:solidFill>
              </a:rPr>
              <a:t>4IM06 · G3 · Project 22  |  Weekly Progress Update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This Week's Progress: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Three New Methods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5029200" cy="228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51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June 2026  ·  Supervised by Quentin Bammey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24688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① JPEG vs Resample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Classical Detector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383280"/>
            <a:ext cx="24688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② Learnable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Spectral Mask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3383280"/>
            <a:ext cx="24688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33832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③ Spectral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CNN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Classical Detector: JPEG vs Block Resampling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B6D4"/>
                </a:solidFill>
              </a:rPr>
              <a:t>jpeg_resample_detector.py  ·  DCT / FFT features  ·  a contrario NFA decision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475488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FAFE"/>
                </a:solidFill>
              </a:rPr>
              <a:t>Goal: distinguish JPEG compression (8×8 DCT artifacts) from block-level ×8 resampling — both create period-8 spectral structures.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3-Script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78892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920240"/>
            <a:ext cx="2788920" cy="29260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1: Build dataset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249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create_forensic_postprocess_dataset.py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2432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Generates 4 categories from raw images: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original  ·  jpeg  ·  resample_×8  ·  mix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137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49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46120" y="1920240"/>
            <a:ext cx="2788920" cy="2011680"/>
          </a:xfrm>
          <a:prstGeom prst="rect">
            <a:avLst/>
          </a:prstGeom>
          <a:solidFill>
            <a:srgbClr val="0E4D7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920240"/>
            <a:ext cx="2788920" cy="29260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2: Detect &amp; classify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249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jpeg_resample_detector.py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262432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Residual → DCT block energy + FFT periodicity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→ NFA test → Label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35040" y="1920240"/>
            <a:ext cx="137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7490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278892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920240"/>
            <a:ext cx="2788920" cy="292608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Step 3: Batch evaluation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249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6B6D4"/>
                </a:solidFill>
              </a:rPr>
              <a:t>evaluate_detector_on_dataset.py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3640" y="262432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Runs detector over full dataset split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→ accuracy + confusion matrix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0040" y="4041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Detector features: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3159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·  DCT block energy at 8×8 boundaries  →  detects JPEG quantization grid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5262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·  FFT periodicity score  →  detects resampling period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7365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·  Null distribution estimated from original patches  →  NFA thresholding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9469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·  Output labels:  jpeg  /  8×8_resampling  /  mixed  /  uncertain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① Classical Detector: Experimental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840480" cy="3246120"/>
          </a:xfrm>
          <a:prstGeom prst="rect">
            <a:avLst/>
          </a:prstGeom>
          <a:solidFill>
            <a:srgbClr val="16203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49808"/>
            <a:ext cx="3840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498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Background: NFA Spectrum Correlation (Prior Work)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188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FAFE"/>
                </a:solidFill>
              </a:rPr>
              <a:t>RAISE-1K real images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Method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5727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FAFE"/>
                </a:solidFill>
              </a:rPr>
              <a:t>Spectral patch correlation + NFA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956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Significant peak detection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956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FAFE"/>
                </a:solidFill>
              </a:rPr>
              <a:t>91%  (synthetic)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3408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Correct size estimation (top-1)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86000" y="23408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FAFE"/>
                </a:solidFill>
              </a:rPr>
              <a:t>11.1%  (synthetic)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724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Real RAISE PNG resampling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724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FFAFE"/>
                </a:solidFill>
              </a:rPr>
              <a:t>0% detectable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27248"/>
            <a:ext cx="3840480" cy="475488"/>
          </a:xfrm>
          <a:prstGeom prst="rect">
            <a:avLst/>
          </a:prstGeom>
          <a:solidFill>
            <a:srgbClr val="1C2A3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1272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Bottleneck: peaks detected but source size not localizable → motivated new feature approach.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43400" y="749808"/>
            <a:ext cx="4480560" cy="3246120"/>
          </a:xfrm>
          <a:prstGeom prst="rect">
            <a:avLst/>
          </a:prstGeom>
          <a:solidFill>
            <a:srgbClr val="162032"/>
          </a:solidFill>
          <a:ln w="1905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749808"/>
            <a:ext cx="44805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74980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New This Week: DCT + FFT Feature Pipeline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62272" y="1188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Dataset generated by create_forensic_postprocess_dataset.py: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62272" y="1490472"/>
            <a:ext cx="1005840" cy="329184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62272" y="1490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original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41264" y="1490472"/>
            <a:ext cx="1005840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1264" y="1490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jpeg (Q80)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20256" y="1490472"/>
            <a:ext cx="1005840" cy="32918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1490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resample_×8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99248" y="1490472"/>
            <a:ext cx="1005840" cy="329184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14904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62272" y="19202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</a:rPr>
              <a:t>Detector outputs: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62272" y="2240280"/>
            <a:ext cx="1097280" cy="256032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62272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jpeg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JPEG block artifact dominant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62272" y="2569464"/>
            <a:ext cx="1097280" cy="256032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62272" y="2569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8×8_resampling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23560" y="25420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Geometric ×8 period dominant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462272" y="2898648"/>
            <a:ext cx="1097280" cy="256032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mixed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23560" y="28712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Both signals present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62272" y="3227832"/>
            <a:ext cx="1097280" cy="256032"/>
          </a:xfrm>
          <a:prstGeom prst="rect">
            <a:avLst/>
          </a:prstGeom>
          <a:solidFill>
            <a:srgbClr val="0E7490">
              <a:alpha val="7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62272" y="3227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uncertain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623560" y="32004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Neither signal significant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3547872"/>
            <a:ext cx="4480560" cy="384048"/>
          </a:xfrm>
          <a:prstGeom prst="rect">
            <a:avLst/>
          </a:prstGeom>
          <a:solidFill>
            <a:srgbClr val="1C3D5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35478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FFAFE"/>
                </a:solidFill>
              </a:rPr>
              <a:t>Status: pipeline complete &amp; integrated. Large-scale quantitative results pending (run evaluate_detector_on_dataset.py).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111D2B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114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FAFE"/>
                </a:solidFill>
              </a:rPr>
              <a:t>Key improvement over prior NFA approach: instead of estimating resampling distance d from spectral peaks (unreliable), directly classify the dominant artifact type (JPEG block vs. geometric period) using separate DCT and FFT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② Learnable Spectral Mask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490"/>
                </a:solidFill>
              </a:rPr>
              <a:t>spectral-mask-resampling  ·  4 classes  ·  5 observed patch sizes (32 – 128 px)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228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438912"/>
          </a:xfrm>
          <a:prstGeom prst="rect">
            <a:avLst/>
          </a:prstGeom>
          <a:solidFill>
            <a:srgbClr val="EFF6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Core idea: patches of different sizes have different native FFT dimensions. Remap all log-spectra to a unified 512×257 normalized frequency grid (cycles/pixel), then learn one mask per class.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Crop patch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(size 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o ∈ {32,48,64,96,128}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020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3736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Y 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+ TV residual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suppress content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rFFT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log|F|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raw spectrum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Remap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512×257 grid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cycles/pixel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Mask Mₖ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(sigmoid)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per-class learnable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5236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Cosine sim.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→ 4-class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vs reference Rₖ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How each class is generated (for every observed size o):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1572768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 crop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Processing applied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Spectral artifact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original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 × 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natural image spectrum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JPEG Q80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 × 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JPEG compress Q=80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8×8 block quantization grid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downsample ×8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8o × 8o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bicubic resize → 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period-8 resampling peaks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downsample ×16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16o × 16o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bicubic resize → 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period-16 resampling peaks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365760" y="4462272"/>
            <a:ext cx="84124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Training: 700 RAISE source images  ·  AdamW lr=1e-3  ·  30 epochs  ·  Test: 20,000 samples (4 classes × 5 sizes × 1,000)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② Spectral Mask: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828800" cy="1143000"/>
          </a:xfrm>
          <a:prstGeom prst="rect">
            <a:avLst/>
          </a:prstGeom>
          <a:solidFill>
            <a:srgbClr val="162032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56.6%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" y="14538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 Accuracy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(random = 25%)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331720" y="749808"/>
            <a:ext cx="164592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79552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</a:rPr>
              <a:t>0.561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331720" y="14538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Macro F1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749808"/>
            <a:ext cx="1645920" cy="114300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0520" y="79552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20,000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60520" y="14538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 samples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685800"/>
          <a:ext cx="301752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Chart 1" descr=""/>
          <p:cNvGraphicFramePr/>
          <p:nvPr/>
        </p:nvGraphicFramePr>
        <p:xfrm>
          <a:off x="320040" y="1993392"/>
          <a:ext cx="411480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4663440" y="1993392"/>
            <a:ext cx="4297680" cy="187452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54880" y="20299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FAFE"/>
                </a:solidFill>
              </a:rPr>
              <a:t>Confusion pairs  (test set: 5,000 per class)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754880" y="239572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×8  →  ×16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73952" y="23957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1,902 / 5,000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909560" y="2423160"/>
            <a:ext cx="914400" cy="20116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909560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SEVERE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754880" y="26791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×16  →  ×8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73952" y="2679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1,762 / 5,000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7909560" y="2706624"/>
            <a:ext cx="914400" cy="20116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9560" y="27066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SEVERE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754880" y="2962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original  →  JPEG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73952" y="29626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1,515 / 5,000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909560" y="2990088"/>
            <a:ext cx="914400" cy="20116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909560" y="29900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4754880" y="32461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JPEG  →  original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473952" y="32461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833 / 5,000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909560" y="3273552"/>
            <a:ext cx="914400" cy="20116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909560" y="3273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4754880" y="352958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JPEG  →  ×8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473952" y="35295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298 / 5,000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7909560" y="3557016"/>
            <a:ext cx="914400" cy="20116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909560" y="355701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20040" y="3977640"/>
            <a:ext cx="8503920" cy="566928"/>
          </a:xfrm>
          <a:prstGeom prst="rect">
            <a:avLst/>
          </a:prstGeom>
          <a:solidFill>
            <a:srgbClr val="1C2A3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57200" y="3977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FAFE"/>
                </a:solidFill>
              </a:rPr>
              <a:t>Interpretability: learned mask pairwise overlap = 0.936 — the four class masks are nearly identical, confirming the model cannot find class-specific frequency bands in the log-spectrum alone.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③ Spectral Positional CNN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E7490"/>
                </a:solidFill>
              </a:rPr>
              <a:t>spectral-history-cnn  ·  6 classes  ·  fixed 64×64 observation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228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8412480" cy="43891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Design difference vs. Mask: single fixed size 64×64 (no multi-size), native 64×33 spectrum (no 512×257 remapping), positional encoding added to let the model learn frequency-location jointly.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Random crop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64×64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source size varies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0020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3736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3736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Y 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+ TV residual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73736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suppress content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6324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rFFT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log|F| → 1×64×33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native spectrum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2628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+ 43-channel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position encoding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6344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λ=1,2,4,8,16,32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2648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CNN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44ch input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3×ConvBlock + GAP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52360" y="1536192"/>
            <a:ext cx="137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49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589520" y="1536192"/>
            <a:ext cx="1325880" cy="822960"/>
          </a:xfrm>
          <a:prstGeom prst="rect">
            <a:avLst/>
          </a:prstGeom>
          <a:solidFill>
            <a:srgbClr val="EFF6FF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153619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Linear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→ 6 classes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89520" y="20665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490"/>
                </a:solidFill>
              </a:rPr>
              <a:t>softmax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5760" y="2487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6 classes (each observed as a 64×64 patch):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816352"/>
            <a:ext cx="132588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original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direct crop 64×64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73736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37360" y="2816352"/>
            <a:ext cx="1325880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JPEG Q80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73736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crop + JPEG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2816352"/>
            <a:ext cx="13258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downsample ×2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0040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crop 128 → 64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816352"/>
            <a:ext cx="132588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downsample ×4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6344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crop 256 → 64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12648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2816352"/>
            <a:ext cx="13258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downsample ×8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2648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crop 512 → 64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89520" y="2816352"/>
            <a:ext cx="13258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2816352"/>
            <a:ext cx="1325880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81635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downsample ×16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589520" y="303580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crop 1024 → 64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611880"/>
            <a:ext cx="4114800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639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Training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39319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AdamW lr=3e-4  ·  batch=256  ·  50 epochs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41879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AMP (mixed precision)  ·  GPU (HPC)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57200" y="4443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Test set: 9,000 samples  (6 × 1,500)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63440" y="3611880"/>
            <a:ext cx="4206240" cy="1143000"/>
          </a:xfrm>
          <a:prstGeom prst="rect">
            <a:avLst/>
          </a:prstGeom>
          <a:solidFill>
            <a:srgbClr val="EFF6FF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6393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Why positional encoding?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754880" y="3931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Sinusoidal encoding at λ=1,2,4,8,16,32 gives the CNN explicit access to frequency bin location — critical for detecting period-8 and period-16 structures.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③ Spectral CNN: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2651760" cy="1078992"/>
          </a:xfrm>
          <a:prstGeom prst="rect">
            <a:avLst/>
          </a:prstGeom>
          <a:solidFill>
            <a:srgbClr val="162032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</a:rPr>
              <a:t>62.5%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453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Test Accuracy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749808"/>
            <a:ext cx="2651760" cy="1078992"/>
          </a:xfrm>
          <a:prstGeom prst="rect">
            <a:avLst/>
          </a:prstGeom>
          <a:solidFill>
            <a:srgbClr val="162032"/>
          </a:solidFill>
          <a:ln w="254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</a:rPr>
              <a:t>65.2%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453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Best val (epoch 5)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80760" y="749808"/>
            <a:ext cx="2651760" cy="1078992"/>
          </a:xfrm>
          <a:prstGeom prst="rect">
            <a:avLst/>
          </a:prstGeom>
          <a:solidFill>
            <a:srgbClr val="162032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80760" y="79552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99.1%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80760" y="14538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Train acc — overfit</a:t>
            </a:r>
            <a:endParaRPr lang="en-US" sz="9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20040" y="1920240"/>
          <a:ext cx="48463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394960" y="1920240"/>
            <a:ext cx="347472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19659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FAFE"/>
                </a:solidFill>
              </a:rPr>
              <a:t>Confusion pairs  (N=1,500 per class)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×8  →  ×16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086600" y="2331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680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818120" y="2359152"/>
            <a:ext cx="914400" cy="20116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23591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SEVERE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486400" y="26426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×4 ↔ ×8  (both dir.)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086600" y="26426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553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818120" y="2670048"/>
            <a:ext cx="914400" cy="201168"/>
          </a:xfrm>
          <a:prstGeom prst="rect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18120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486400" y="2953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×16  →  ×8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2953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301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818120" y="2980944"/>
            <a:ext cx="914400" cy="201168"/>
          </a:xfrm>
          <a:prstGeom prst="rect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818120" y="29809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486400" y="32644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original ↔ JPEG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86600" y="3264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818120" y="3291840"/>
            <a:ext cx="914400" cy="20116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18120" y="3291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486400" y="3575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JPEG  →  ×8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86600" y="3575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818120" y="3602736"/>
            <a:ext cx="914400" cy="201168"/>
          </a:xfrm>
          <a:prstGeom prst="rect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1812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MINIMAL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1C2A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0599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Post-hoc 4-class analysis (extract original/JPEG/×8/×16 from 6-class predictions, no retraining)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FAFE"/>
                </a:solidFill>
              </a:rPr>
              <a:t>Subset acc: 76.1% (inflated — ×2/×4 confusion removed)  ·  ×8 vs ×16 binary acc: 53.9%  ←  near random  ·  ×8→×4 bridge: 351 cases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Comparison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8412480" cy="228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49808"/>
          <a:ext cx="8412480" cy="2304288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① Classical Detector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② Spectral Mask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③ CNN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Learns parameters?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No — hand-crafted features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Yes — mask + reference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Yes — full CNN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jpeg vs. ×8 (binary)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4 classes, 5 sizes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 classes, fixed 64×64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Overall 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Pending eval run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56.6%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62.5%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original / JPEG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 = 0.59 / 0.69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 = 0.91 / 0.91  ✓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×8 / ×16 separation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Spectrally ambiguous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 = 0.45 / 0.51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F1 = 0.23 / 0.48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Key bottleneck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Feature localisation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×8 ↔ ×16 overlap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Overfitting + ×8 recall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315468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Pending Results for Final Defense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3602736"/>
            <a:ext cx="274320" cy="256032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36027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Route A2 — Classical Detector: run evaluate_detector_on_dataset.py on held-out test split to obtain quantitative accuracy and confusion matrix.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4169664"/>
            <a:ext cx="274320" cy="256032"/>
          </a:xfrm>
          <a:prstGeom prst="rect">
            <a:avLst/>
          </a:prstGeom>
          <a:solidFill>
            <a:srgbClr val="0E7490">
              <a:alpha val="85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416966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41330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CNN 4-class retrain (original / JPEG / ×8 / ×16, matching Mask setup) — enables fair apples-to-apples comparison across all three routes.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Report Narrative Structure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How we tell the story in the written report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554480" cy="960120"/>
          </a:xfrm>
          <a:prstGeom prst="rect">
            <a:avLst/>
          </a:prstGeom>
          <a:solidFill>
            <a:srgbClr val="94A3B8">
              <a:alpha val="4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Prior Method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NFA spectral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correlation (paper)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100584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54480" cy="960120"/>
          </a:xfrm>
          <a:prstGeom prst="rect">
            <a:avLst/>
          </a:prstGeom>
          <a:solidFill>
            <a:srgbClr val="0E7490">
              <a:alpha val="80000"/>
            </a:srgbClr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005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Reproduce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Test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1168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resampling_core.py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W3 + RAISE100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566160" y="100584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49040" y="1005840"/>
            <a:ext cx="1554480" cy="960120"/>
          </a:xfrm>
          <a:prstGeom prst="rect">
            <a:avLst/>
          </a:prstGeom>
          <a:solidFill>
            <a:srgbClr val="EF4444">
              <a:alpha val="8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005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Expose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Limitations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NFA fails on real 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Fourier ambiguity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303520" y="100584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0" y="1005840"/>
            <a:ext cx="1554480" cy="960120"/>
          </a:xfrm>
          <a:prstGeom prst="rect">
            <a:avLst/>
          </a:prstGeom>
          <a:solidFill>
            <a:srgbClr val="10B98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005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Our 3 Routes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A2 DCT  ·  Mask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CNN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040880" y="1005840"/>
            <a:ext cx="18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B6D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23760" y="1005840"/>
            <a:ext cx="1554480" cy="960120"/>
          </a:xfrm>
          <a:prstGeom prst="rect">
            <a:avLst/>
          </a:prstGeom>
          <a:solidFill>
            <a:srgbClr val="8B5CF6">
              <a:alpha val="8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0058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Compare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Conclude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14813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Quantify limits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FFAFE"/>
                </a:solidFill>
              </a:rPr>
              <a:t>of Fourier-only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2121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</a:rPr>
              <a:t>Chapter-by-chapter logic: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2468880"/>
            <a:ext cx="109728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§2  Prior method &amp; reproduction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6928" y="2715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E"/>
                </a:solidFill>
              </a:rPr>
              <a:t>Establish the baseline. Two reproduction experiments show that NFA detects peaks (91% on synthetic) but cannot localise them (top-1: 11%), and completely fails on real RAISE images (0%). This is not a failure to reproduce — it is the finding that motivates everything that follows.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109728" cy="502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1089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490"/>
                </a:solidFill>
              </a:rPr>
              <a:t>§3  Task redefinition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" y="33558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E"/>
                </a:solidFill>
              </a:rPr>
              <a:t>Reframe from binary (resampled / not) to 4-class (original / JPEG / ×8 / ×16). Introduces the Fourier ambiguity hierarchy — the scientific problem all three routes attack.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10972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§4–6  Our three routes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39959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E"/>
                </a:solidFill>
              </a:rPr>
              <a:t>A2 (DCT+FFT) brings non-Fourier evidence for JPEG.  Mask quantifies the ceiling of Fourier-only representations (mask overlap 0.936).  CNN shows that original/JPEG can be solved (F1=0.91) while ×8/×16 remains the shared bottleneck.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389120"/>
            <a:ext cx="109728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§7  Cross-route comparison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" y="4636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FAFE"/>
                </a:solidFill>
              </a:rPr>
              <a:t>The three routes are complementary, not competing. Together they systematically answer: what can Fourier-only do, where does it break, and what does adding DCT evidence change?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Conclusions &amp; Contributions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B6D4"/>
                </a:solidFill>
              </a:rPr>
              <a:t>What we found — and 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What we found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353312"/>
            <a:ext cx="329184" cy="676656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53312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426464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Fourier ambiguity is real — Spectral Mask overlap = 0.936; ×8 ↔ ×16 confusion: 3,664 / 10,000 cases; CNN post-hoc binary accuracy: 53.9% (near random). No log-spectrum method alone can reliably separate ×8 from ×16.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03120"/>
            <a:ext cx="329184" cy="67665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03120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176272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CNN breaks the original / JPEG barrier — F1 = 0.91 for both classes, far above Spectral Mask (0.59 / 0.69). TV residual + positional encoding + convolution effectively captures JPEG 8×8 quantisation artifacts.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52928"/>
            <a:ext cx="329184" cy="67665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52928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292608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NFA limits precisely characterised — real RAISE: 0% detectable; synthetic: 91% peak detection but only 11% top-1 size accuracy. Bottleneck is localisation, not sensitivity.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02736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602736"/>
            <a:ext cx="329184" cy="676656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02736"/>
            <a:ext cx="329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67588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</a:rPr>
              <a:t>DCT+FFT pipeline (Route A2) provides non-Fourier evidence — DCT block energy and FFT periodicity are treated as independent channels, offering a complementary view beyond pure log-spectrum methods.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407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Outlook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83080" y="4370832"/>
            <a:ext cx="256032" cy="2560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4-class CNN retrain (original / JPEG / ×8 / ×16) — fair comparison with Spectral Mask on identical setup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51960" y="4370832"/>
            <a:ext cx="256032" cy="2560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53712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Route A2 quantitative evaluation — run batch evaluation on held-out test split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20840" y="4370832"/>
            <a:ext cx="256032" cy="256032"/>
          </a:xfrm>
          <a:prstGeom prst="rect">
            <a:avLst/>
          </a:prstGeom>
          <a:solidFill>
            <a:srgbClr val="0E7490">
              <a:alpha val="80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4370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22592" y="43159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Hybrid Fourier + DCT model — combine log-spectrum with DCT block evidence to break the ×8 / ×16 ambiguity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G3 Project22 - Weekly Progress</dc:title>
  <dc:subject>PptxGenJS Presentation</dc:subject>
  <dc:creator>PptxGenJS</dc:creator>
  <cp:lastModifiedBy>PptxGenJS</cp:lastModifiedBy>
  <cp:revision>1</cp:revision>
  <dcterms:created xsi:type="dcterms:W3CDTF">2026-06-16T20:01:51Z</dcterms:created>
  <dcterms:modified xsi:type="dcterms:W3CDTF">2026-06-16T20:01:51Z</dcterms:modified>
</cp:coreProperties>
</file>